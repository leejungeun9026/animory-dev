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D50A8-0B65-51E8-5763-731B67925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8C5969-1BFA-434D-EDB2-4EAA4163F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AB4ED-2003-C176-D21E-6351DF51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07E14-D680-6176-4C43-F5D7BCAC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18E84E-4E89-4AB4-1A33-94D69C4E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76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1EFB-45EB-0E2D-4B3B-99AD2E24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8BE8D-2174-B156-BFF7-09611F06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C97BC-4321-E336-22B9-72C36441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15C4D-C96F-06CF-FCDF-A49FFD19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C54DB-C4B7-B9FF-551A-B7154F32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14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8FCA8-DAA1-1643-AC09-506B9022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243D3-A8E7-40B1-F7A1-8599E4ADA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12379-4684-BF7C-84D6-33DF7F1A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8DC93-387D-1CA6-834A-65A80AF1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E0FB59-22AE-CF24-FB16-B49A13B9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26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0597-F60E-4645-E040-6CA71CB3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AF19AB-BAE0-F65E-95B6-BAB966A31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AA98B2-5D8F-40D1-C659-151CC8420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1028F7-3DE9-6ED1-A18F-DF7D501C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49967E-8D5B-4B4C-473B-1AD18691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B0E579-F85D-17E4-0E9F-6BF60C45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7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6F24F-A45B-872C-8E19-45883578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B9FAF5-7AFF-C7A5-8EF5-F7695CF8A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164418-BA9A-0CF4-B89C-E0E624498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D827D5-F894-D7A1-3624-B1234FB05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2054F5-F7F4-9EE0-2054-C13D06095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A57968-7C1D-BE8C-81EA-165E4CEA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DD49D1-7C91-8627-AFDA-1CFB21FE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8AB4EE-2E1D-F227-8EDD-98DDEDF4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59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E1AA6-C02D-0464-399E-3195F1CB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F5646C-142E-7D27-823E-946C67B1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CA0DE4-F48B-B86E-DB5E-9FC265FA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CD88A8-2DD9-131B-13DA-0CBDCBBD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99A01D-B5E4-73CB-2E4A-7FC2E48B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08B219-D67C-7296-F202-56F0D7B0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B4AE50-E63B-41B4-6419-8B6F1138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55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21F34-7875-D95A-FA95-AE021D67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FE8EB6-8B11-D7EC-7598-5AF2BCEC7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51F13A-221B-F3B9-92A9-83D2ED76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BEAC90-EEE2-199A-BB6D-7302B40D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AF18C-CC44-47D5-6C66-7D6CAB80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0C55AF-B728-B1FC-F939-CCAB9FC2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5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5E2A2-71CF-BD70-860C-BC9B2ACE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2A7757-53A7-EDE8-E75F-AA49DEE8C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D1FB57-5A73-64E0-8643-D9B6EAB85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707F8C-784A-E806-ACEB-13354106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E1D4A-17E9-2E94-7D35-A0C7197C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A9795E-A36D-F05E-9AAD-050BF7A6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9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C753F-4164-FDD6-93F8-CA664EFC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F9AA25-B987-AC81-255F-9C8DB51E4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6822B-8770-B28D-1514-CA4BAB2E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47AB41-5C76-33F8-559E-D46EC941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81E36-AB06-8CF6-B26F-74988F52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62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99489B-D2B0-5061-B3EB-84B2F73F7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C433C7-0CF9-7B04-123C-F42F1D48F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1EB890-5460-E599-6A42-6F58835F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E956E3-397E-AB30-6E65-0FED62CC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1F9918-BEC1-66F2-C400-C7E76E41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606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EBC34E-1BA3-A01F-8016-5AB75B4C6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69DFC5-01AD-C9C4-EFA6-95264F3A7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1B3380-3EF4-797D-9C7D-568670C5D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8FCD9-915E-4CDE-97D8-5B914933853E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4DCAEB-5B0E-B4D4-B794-FE250D8CE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55A5F-A72F-64A0-B0F8-61AEE9410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E52B1-3D83-474B-8DE6-60E1A1640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03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5">
            <a:extLst>
              <a:ext uri="{FF2B5EF4-FFF2-40B4-BE49-F238E27FC236}">
                <a16:creationId xmlns:a16="http://schemas.microsoft.com/office/drawing/2014/main" id="{9410C4BE-2FFC-D9F9-E519-5A4515AA3748}"/>
              </a:ext>
            </a:extLst>
          </p:cNvPr>
          <p:cNvSpPr txBox="1"/>
          <p:nvPr/>
        </p:nvSpPr>
        <p:spPr>
          <a:xfrm>
            <a:off x="295954" y="336716"/>
            <a:ext cx="116000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200" dirty="0"/>
              <a:t>eCRF </a:t>
            </a:r>
            <a:r>
              <a:rPr lang="ko-KR" altLang="en-US" sz="2200" dirty="0"/>
              <a:t>자료 충실도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B17282-5C9C-F3BF-963D-5E0E147E4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51173" y="2295993"/>
            <a:ext cx="6743628" cy="1329536"/>
          </a:xfrm>
          <a:prstGeom prst="rect">
            <a:avLst/>
          </a:prstGeom>
        </p:spPr>
      </p:pic>
      <p:sp>
        <p:nvSpPr>
          <p:cNvPr id="6" name="가로 글상자 8">
            <a:extLst>
              <a:ext uri="{FF2B5EF4-FFF2-40B4-BE49-F238E27FC236}">
                <a16:creationId xmlns:a16="http://schemas.microsoft.com/office/drawing/2014/main" id="{7CFF5593-36AF-C935-0CF2-464B158F05EE}"/>
              </a:ext>
            </a:extLst>
          </p:cNvPr>
          <p:cNvSpPr txBox="1"/>
          <p:nvPr/>
        </p:nvSpPr>
        <p:spPr>
          <a:xfrm>
            <a:off x="508376" y="767603"/>
            <a:ext cx="10684557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dirty="0"/>
              <a:t>eCRF</a:t>
            </a:r>
            <a:r>
              <a:rPr lang="ko-KR" altLang="en-US" dirty="0"/>
              <a:t> 입력 지침상 자료가 누락을 허용하지 않음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dirty="0"/>
              <a:t>DATA</a:t>
            </a:r>
            <a:r>
              <a:rPr lang="ko-KR" altLang="en-US" dirty="0"/>
              <a:t>가 빈칸으로 입력되지 않은 경우</a:t>
            </a:r>
            <a:r>
              <a:rPr lang="en-US" altLang="ko-KR" dirty="0"/>
              <a:t>,</a:t>
            </a:r>
            <a:r>
              <a:rPr lang="ko-KR" altLang="en-US" dirty="0"/>
              <a:t>  쿼리를 발행하여 담당</a:t>
            </a:r>
            <a:r>
              <a:rPr lang="en-US" altLang="ko-KR" dirty="0"/>
              <a:t> CRC</a:t>
            </a:r>
            <a:r>
              <a:rPr lang="ko-KR" altLang="en-US" dirty="0"/>
              <a:t>가 </a:t>
            </a:r>
            <a:r>
              <a:rPr lang="en-US" altLang="ko-KR" dirty="0"/>
              <a:t>CRF</a:t>
            </a:r>
            <a:r>
              <a:rPr lang="ko-KR" altLang="en-US" dirty="0"/>
              <a:t>에 데이터를 확인하고 입력할 수 있도록 하고 있음</a:t>
            </a:r>
            <a:r>
              <a:rPr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D3A076-15E0-B825-515F-B0FD546241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521" b="13840"/>
          <a:stretch/>
        </p:blipFill>
        <p:spPr>
          <a:xfrm>
            <a:off x="2451172" y="3941315"/>
            <a:ext cx="6328762" cy="269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7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EBCDCD-C04A-3997-6A53-1B5F37770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271080"/>
              </p:ext>
            </p:extLst>
          </p:nvPr>
        </p:nvGraphicFramePr>
        <p:xfrm>
          <a:off x="295954" y="1395676"/>
          <a:ext cx="11532499" cy="255197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16244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　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서울대병원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이대</a:t>
                      </a:r>
                      <a:b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서울병원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고대</a:t>
                      </a:r>
                      <a:b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안암병원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고대</a:t>
                      </a:r>
                      <a:br>
                        <a:rPr lang="ko-KR" altLang="en-US" sz="1100" b="0" u="none" strike="noStrike" baseline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구로병원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아산병원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서울</a:t>
                      </a:r>
                      <a:b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성모병원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아인</a:t>
                      </a:r>
                      <a:b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여성병원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서울</a:t>
                      </a:r>
                      <a:b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삼성병원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분당</a:t>
                      </a:r>
                      <a:b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</a:b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서울대</a:t>
                      </a:r>
                      <a:r>
                        <a:rPr lang="ko-KR" altLang="en-US" sz="1100" b="0" u="none" strike="noStrike" baseline="0" dirty="0">
                          <a:solidFill>
                            <a:srgbClr val="000000"/>
                          </a:solidFill>
                        </a:rPr>
                        <a:t>병원</a:t>
                      </a:r>
                      <a:endParaRPr lang="ko-KR" altLang="en-US"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보라매병원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932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 발급된 </a:t>
                      </a:r>
                      <a:endParaRPr lang="en-US" altLang="ko-KR"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대상자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424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165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294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672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226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284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154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270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217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932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종료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352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329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194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214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568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160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178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101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191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146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932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종료예정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123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95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61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80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106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79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932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 err="1">
                          <a:solidFill>
                            <a:srgbClr val="000000"/>
                          </a:solidFill>
                        </a:rPr>
                        <a:t>완성률</a:t>
                      </a:r>
                      <a:r>
                        <a:rPr lang="en-US" sz="1100" b="0" u="none" strike="noStrike" baseline="0" dirty="0">
                          <a:solidFill>
                            <a:srgbClr val="000000"/>
                          </a:solidFill>
                        </a:rPr>
                        <a:t>(%)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74.1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80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87.2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83.2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78.1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>
                          <a:solidFill>
                            <a:srgbClr val="000000"/>
                          </a:solidFill>
                        </a:rPr>
                        <a:t>86.1</a:t>
                      </a:r>
                      <a:endParaRPr sz="1100" b="0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77.7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87.6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83.4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100" b="0" u="none" strike="noStrike" baseline="0" dirty="0">
                          <a:solidFill>
                            <a:srgbClr val="000000"/>
                          </a:solidFill>
                        </a:rPr>
                        <a:t>85.1</a:t>
                      </a:r>
                      <a:endParaRPr sz="1100" b="0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가로 글상자 5">
            <a:extLst>
              <a:ext uri="{FF2B5EF4-FFF2-40B4-BE49-F238E27FC236}">
                <a16:creationId xmlns:a16="http://schemas.microsoft.com/office/drawing/2014/main" id="{EA6BCACF-8D6D-C7A5-0253-03F92FFE57A0}"/>
              </a:ext>
            </a:extLst>
          </p:cNvPr>
          <p:cNvSpPr txBox="1"/>
          <p:nvPr/>
        </p:nvSpPr>
        <p:spPr>
          <a:xfrm>
            <a:off x="295954" y="336716"/>
            <a:ext cx="116000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200" dirty="0"/>
              <a:t>eCRF </a:t>
            </a:r>
            <a:r>
              <a:rPr lang="ko-KR" altLang="en-US" sz="2200" dirty="0"/>
              <a:t>입력 진행상황</a:t>
            </a:r>
          </a:p>
        </p:txBody>
      </p:sp>
      <p:sp>
        <p:nvSpPr>
          <p:cNvPr id="6" name="가로 글상자 8">
            <a:extLst>
              <a:ext uri="{FF2B5EF4-FFF2-40B4-BE49-F238E27FC236}">
                <a16:creationId xmlns:a16="http://schemas.microsoft.com/office/drawing/2014/main" id="{7C6D3CCC-BFCE-3DF1-284D-5803BF98FD8F}"/>
              </a:ext>
            </a:extLst>
          </p:cNvPr>
          <p:cNvSpPr txBox="1"/>
          <p:nvPr/>
        </p:nvSpPr>
        <p:spPr>
          <a:xfrm>
            <a:off x="508376" y="767603"/>
            <a:ext cx="10684557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dirty="0"/>
              <a:t>eCRF</a:t>
            </a:r>
            <a:r>
              <a:rPr lang="ko-KR" altLang="en-US" dirty="0"/>
              <a:t> 상에서 발급된 총 대상자 번호를 기준으로</a:t>
            </a:r>
            <a:r>
              <a:rPr lang="en-US" altLang="ko-KR" dirty="0"/>
              <a:t>, </a:t>
            </a:r>
            <a:r>
              <a:rPr lang="ko-KR" altLang="en-US" dirty="0"/>
              <a:t>분만 </a:t>
            </a:r>
            <a:r>
              <a:rPr lang="en-US" altLang="ko-KR" dirty="0"/>
              <a:t>1</a:t>
            </a:r>
            <a:r>
              <a:rPr lang="ko-KR" altLang="en-US" dirty="0"/>
              <a:t>년 뒤 장기예후 이후 </a:t>
            </a:r>
            <a:r>
              <a:rPr lang="en-US" altLang="ko-KR" dirty="0"/>
              <a:t>case</a:t>
            </a:r>
            <a:r>
              <a:rPr lang="ko-KR" altLang="en-US" dirty="0"/>
              <a:t> 종료</a:t>
            </a:r>
            <a:r>
              <a:rPr lang="en-US" altLang="ko-KR" dirty="0"/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A1AD494-A3BA-002A-9AE3-013F726C9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781587"/>
              </p:ext>
            </p:extLst>
          </p:nvPr>
        </p:nvGraphicFramePr>
        <p:xfrm>
          <a:off x="620342" y="5030013"/>
          <a:ext cx="10484090" cy="153410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283881400"/>
                    </a:ext>
                  </a:extLst>
                </a:gridCol>
                <a:gridCol w="1030018">
                  <a:extLst>
                    <a:ext uri="{9D8B030D-6E8A-4147-A177-3AD203B41FA5}">
                      <a16:colId xmlns:a16="http://schemas.microsoft.com/office/drawing/2014/main" val="2551172965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3140943087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1649236530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2813572991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4146344598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1885889408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1135072344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356878894"/>
                    </a:ext>
                  </a:extLst>
                </a:gridCol>
                <a:gridCol w="1048409">
                  <a:extLst>
                    <a:ext uri="{9D8B030D-6E8A-4147-A177-3AD203B41FA5}">
                      <a16:colId xmlns:a16="http://schemas.microsoft.com/office/drawing/2014/main" val="3925151149"/>
                    </a:ext>
                  </a:extLst>
                </a:gridCol>
              </a:tblGrid>
              <a:tr h="516244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서울대학교병원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이대서울병원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고대안암병원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고대구로병원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아산병원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서울성모병원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서울삼성병원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분당서울대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보라매병원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4852321"/>
                  </a:ext>
                </a:extLst>
              </a:tr>
              <a:tr h="50893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분만 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72623198"/>
                  </a:ext>
                </a:extLst>
              </a:tr>
              <a:tr h="50893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분만 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09368385"/>
                  </a:ext>
                </a:extLst>
              </a:tr>
            </a:tbl>
          </a:graphicData>
        </a:graphic>
      </p:graphicFrame>
      <p:sp>
        <p:nvSpPr>
          <p:cNvPr id="9" name="가로 글상자 8">
            <a:extLst>
              <a:ext uri="{FF2B5EF4-FFF2-40B4-BE49-F238E27FC236}">
                <a16:creationId xmlns:a16="http://schemas.microsoft.com/office/drawing/2014/main" id="{556DACFB-4A0B-D395-E58C-438078365590}"/>
              </a:ext>
            </a:extLst>
          </p:cNvPr>
          <p:cNvSpPr txBox="1"/>
          <p:nvPr/>
        </p:nvSpPr>
        <p:spPr>
          <a:xfrm>
            <a:off x="295954" y="4121429"/>
            <a:ext cx="10684557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dirty="0"/>
              <a:t>eCRF</a:t>
            </a:r>
            <a:r>
              <a:rPr lang="ko-KR" altLang="en-US" dirty="0"/>
              <a:t> 상에서 </a:t>
            </a:r>
            <a:r>
              <a:rPr lang="ko-KR" altLang="en-US" dirty="0" err="1"/>
              <a:t>결측치로</a:t>
            </a:r>
            <a:r>
              <a:rPr lang="ko-KR" altLang="en-US" dirty="0"/>
              <a:t> 확인된 </a:t>
            </a:r>
            <a:r>
              <a:rPr lang="en-US" altLang="ko-KR" dirty="0"/>
              <a:t>RCT</a:t>
            </a:r>
            <a:r>
              <a:rPr lang="ko-KR" altLang="en-US" dirty="0"/>
              <a:t>의 </a:t>
            </a:r>
            <a:r>
              <a:rPr lang="en-US" altLang="ko-KR" dirty="0"/>
              <a:t>primary outcome.</a:t>
            </a:r>
          </a:p>
        </p:txBody>
      </p:sp>
      <p:sp>
        <p:nvSpPr>
          <p:cNvPr id="10" name="가로 글상자 8">
            <a:extLst>
              <a:ext uri="{FF2B5EF4-FFF2-40B4-BE49-F238E27FC236}">
                <a16:creationId xmlns:a16="http://schemas.microsoft.com/office/drawing/2014/main" id="{B6D364C8-5131-E424-A545-7AF58766E7B4}"/>
              </a:ext>
            </a:extLst>
          </p:cNvPr>
          <p:cNvSpPr txBox="1"/>
          <p:nvPr/>
        </p:nvSpPr>
        <p:spPr>
          <a:xfrm>
            <a:off x="753721" y="4503695"/>
            <a:ext cx="1068455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500" b="1" dirty="0"/>
              <a:t>제외</a:t>
            </a:r>
            <a:r>
              <a:rPr lang="en-US" altLang="ko-KR" sz="1500" b="1" dirty="0"/>
              <a:t>) </a:t>
            </a:r>
            <a:r>
              <a:rPr lang="en-US" altLang="ko-KR" sz="1500" b="1" dirty="0" err="1"/>
              <a:t>cohor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만 등록한 대상자</a:t>
            </a:r>
            <a:r>
              <a:rPr lang="en-US" altLang="ko-KR" sz="1500" b="1" dirty="0"/>
              <a:t>, C/S</a:t>
            </a:r>
            <a:r>
              <a:rPr lang="ko-KR" altLang="en-US" sz="1500" b="1" dirty="0"/>
              <a:t>을 진행한 대상자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전원 등 </a:t>
            </a:r>
            <a:r>
              <a:rPr lang="en-US" altLang="ko-KR" sz="1500" b="1" dirty="0"/>
              <a:t>D/O </a:t>
            </a:r>
            <a:r>
              <a:rPr lang="ko-KR" altLang="en-US" sz="1500" b="1" dirty="0"/>
              <a:t>대상자</a:t>
            </a:r>
            <a:r>
              <a:rPr lang="en-US" altLang="ko-KR" sz="1500" b="1" dirty="0"/>
              <a:t>, S/F </a:t>
            </a:r>
            <a:r>
              <a:rPr lang="ko-KR" altLang="en-US" sz="1500" b="1" dirty="0"/>
              <a:t>된 대상자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161138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>
            <a:extLst>
              <a:ext uri="{FF2B5EF4-FFF2-40B4-BE49-F238E27FC236}">
                <a16:creationId xmlns:a16="http://schemas.microsoft.com/office/drawing/2014/main" id="{C12D218F-BDC6-E287-EE2C-ED784B79CA6A}"/>
              </a:ext>
            </a:extLst>
          </p:cNvPr>
          <p:cNvSpPr txBox="1"/>
          <p:nvPr/>
        </p:nvSpPr>
        <p:spPr>
          <a:xfrm>
            <a:off x="295954" y="338638"/>
            <a:ext cx="11600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200" dirty="0"/>
              <a:t>Cohort</a:t>
            </a:r>
            <a:r>
              <a:rPr lang="ko-KR" altLang="en-US" sz="2200" dirty="0"/>
              <a:t>의 경우</a:t>
            </a:r>
            <a:r>
              <a:rPr lang="en-US" altLang="ko-KR" sz="2200" dirty="0"/>
              <a:t>, </a:t>
            </a:r>
          </a:p>
          <a:p>
            <a:pPr lvl="0">
              <a:defRPr/>
            </a:pPr>
            <a:r>
              <a:rPr lang="ko-KR" altLang="en-US" dirty="0"/>
              <a:t>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50FF61-E1DB-E336-EB5D-275727F48E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8376" y="2314148"/>
            <a:ext cx="8555250" cy="4351236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485F711D-E016-9F83-6A70-FFC09D57416F}"/>
              </a:ext>
            </a:extLst>
          </p:cNvPr>
          <p:cNvGrpSpPr/>
          <p:nvPr/>
        </p:nvGrpSpPr>
        <p:grpSpPr>
          <a:xfrm>
            <a:off x="6741072" y="2593822"/>
            <a:ext cx="5019128" cy="2637342"/>
            <a:chOff x="7054717" y="1894277"/>
            <a:chExt cx="5019128" cy="263734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040C11-C98F-61C4-D62A-D47316E71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7054717" y="1894277"/>
              <a:ext cx="4993729" cy="2637342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592E817-0C4E-5EF8-EFF8-E3DF3D4E38D9}"/>
                </a:ext>
              </a:extLst>
            </p:cNvPr>
            <p:cNvSpPr/>
            <p:nvPr/>
          </p:nvSpPr>
          <p:spPr>
            <a:xfrm>
              <a:off x="8094132" y="2056648"/>
              <a:ext cx="3979713" cy="659932"/>
            </a:xfrm>
            <a:prstGeom prst="rect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가로 글상자 8">
            <a:extLst>
              <a:ext uri="{FF2B5EF4-FFF2-40B4-BE49-F238E27FC236}">
                <a16:creationId xmlns:a16="http://schemas.microsoft.com/office/drawing/2014/main" id="{EDAD09C5-8B72-6175-1BA2-94BEEFD894FE}"/>
              </a:ext>
            </a:extLst>
          </p:cNvPr>
          <p:cNvSpPr txBox="1"/>
          <p:nvPr/>
        </p:nvSpPr>
        <p:spPr>
          <a:xfrm>
            <a:off x="508376" y="823586"/>
            <a:ext cx="11251824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분만 진통 중 내진 초음파 기록으로 유효성을 확인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분만 진통 내진 초음파 기록의 입력율이 저조한 것으로 사료되며</a:t>
            </a:r>
            <a:r>
              <a:rPr lang="en-US" altLang="ko-KR" dirty="0"/>
              <a:t>, DATA</a:t>
            </a:r>
            <a:r>
              <a:rPr lang="ko-KR" altLang="en-US" dirty="0"/>
              <a:t>가 입력되지 않은 칸은 쿼리가 발생하기 때문에 일부 보완이 되겠지만 기관 내부적으로 초음파 기록 유무를 확인이 필요할 것으로 보임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1567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242</Words>
  <Application>Microsoft Office PowerPoint</Application>
  <PresentationFormat>와이드스크린</PresentationFormat>
  <Paragraphs>97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영랑 진</dc:creator>
  <cp:lastModifiedBy>영랑 진</cp:lastModifiedBy>
  <cp:revision>3</cp:revision>
  <dcterms:created xsi:type="dcterms:W3CDTF">2025-08-18T17:13:24Z</dcterms:created>
  <dcterms:modified xsi:type="dcterms:W3CDTF">2025-08-18T17:30:57Z</dcterms:modified>
</cp:coreProperties>
</file>